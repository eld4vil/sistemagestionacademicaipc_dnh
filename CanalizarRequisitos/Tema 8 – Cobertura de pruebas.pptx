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on" charset="1" panose="00000500000000000000"/>
      <p:regular r:id="rId15"/>
    </p:embeddedFont>
    <p:embeddedFont>
      <p:font typeface="Canva Sans" charset="1" panose="020B0503030501040103"/>
      <p:regular r:id="rId16"/>
    </p:embeddedFont>
    <p:embeddedFont>
      <p:font typeface="Raleway Medium" charset="1" panose="00000000000000000000"/>
      <p:regular r:id="rId20"/>
    </p:embeddedFont>
    <p:embeddedFont>
      <p:font typeface="Montserrat" charset="1" panose="00000500000000000000"/>
      <p:regular r:id="rId22"/>
    </p:embeddedFont>
    <p:embeddedFont>
      <p:font typeface="Raleway Bold" charset="1" panose="00000000000000000000"/>
      <p:regular r:id="rId23"/>
    </p:embeddedFont>
    <p:embeddedFont>
      <p:font typeface="Raleway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comenzar, hablemos de qué son las pruebas de cobertura.</a:t>
            </a:r>
          </a:p>
          <a:p>
            <a:r>
              <a:rPr lang="en-US"/>
              <a:t/>
            </a:r>
          </a:p>
          <a:p>
            <a:r>
              <a:rPr lang="en-US"/>
              <a:t>Las pruebas de cobertura no son pruebas en sí, sino una métrica que nos ayuda a saber qué tan bien nuestras pruebas que ya existen ejercitan el código.</a:t>
            </a:r>
          </a:p>
          <a:p>
            <a:r>
              <a:rPr lang="en-US"/>
              <a:t/>
            </a:r>
          </a:p>
          <a:p>
            <a:r>
              <a:rPr lang="en-US"/>
              <a:t>Por ejemplo, si tenemos un conjunto de pruebas que cubren solo una parte del programa, eso significa que hay otras secciones que nunca se ejecutan durante las pruebas.</a:t>
            </a:r>
          </a:p>
          <a:p>
            <a:r>
              <a:rPr lang="en-US"/>
              <a:t/>
            </a:r>
          </a:p>
          <a:p>
            <a:r>
              <a:rPr lang="en-US"/>
              <a:t>Esto es un problema, porque esas partes no ejercitadas podrían tener errores que no estamos detectando.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Ahora que entendemos qué es la cobertura de pruebas, veamos por qué es importante aplicarla en nuestros proyectos.</a:t>
            </a:r>
          </a:p>
          <a:p>
            <a:r>
              <a:rPr lang="en-US"/>
              <a:t/>
            </a:r>
          </a:p>
          <a:p>
            <a:r>
              <a:rPr lang="en-US"/>
              <a:t>En primer lugar, nos ayuda a identificar gaps, o sea, vacíos en nuestras pruebas. Al medir la cobertura, podemos saber qué partes del código no están siendo probadas en absoluto, lo que nos permite enfocarnos en ellas y evitar errores ocultos.</a:t>
            </a:r>
          </a:p>
          <a:p>
            <a:r>
              <a:rPr lang="en-US"/>
              <a:t/>
            </a:r>
          </a:p>
          <a:p>
            <a:r>
              <a:rPr lang="en-US"/>
              <a:t>En segundo lugar, nos permite mejorar la calidad del software. Un mayor nivel de cobertura se traduce en mayor confianza de que el código funciona como se espera. </a:t>
            </a:r>
          </a:p>
          <a:p>
            <a:r>
              <a:rPr lang="en-US"/>
              <a:t/>
            </a:r>
          </a:p>
          <a:p>
            <a:r>
              <a:rPr lang="en-US"/>
              <a:t>Y por último, algo muy valioso en los equipos de desarrollo: el feedback rápido. Al integrar herramientas de cobertura con nuestro entorno de pruebas, podemos obtener resultados inmediatos que nos dicen si una parte nueva del código ya está cubierta o no.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Cobertura Mide el Alcance, No la Calidad.</a:t>
            </a:r>
          </a:p>
          <a:p>
            <a:r>
              <a:rPr lang="en-US"/>
              <a:t/>
            </a:r>
          </a:p>
          <a:p>
            <a:r>
              <a:rPr lang="en-US"/>
              <a:t>Es una métrica fundamental para identificar qué partes de un sistema no han sido probadas. Sin embargo, no garantiza que las pruebas existentes sean correctas o efectivas. Es el punto de partida para el análisis de calidad, no el final.</a:t>
            </a:r>
          </a:p>
          <a:p>
            <a:r>
              <a:rPr lang="en-US"/>
              <a:t>Es una Herramienta Estratégica para la Reducción de Riesgos.</a:t>
            </a:r>
          </a:p>
          <a:p>
            <a:r>
              <a:rPr lang="en-US"/>
              <a:t/>
            </a:r>
          </a:p>
          <a:p>
            <a:r>
              <a:rPr lang="en-US"/>
              <a:t>Medir la cobertura permite a los equipos de desarrollo enfocar sus recursos de manera inteligente, priorizando la creación de pruebas para las áreas más críticas o complejas del código que presentan "puntos ciegos".</a:t>
            </a:r>
          </a:p>
          <a:p>
            <a:r>
              <a:rPr lang="en-US"/>
              <a:t>Fomenta una Cultura de Calidad y Mejora Continua.</a:t>
            </a:r>
          </a:p>
          <a:p>
            <a:r>
              <a:rPr lang="en-US"/>
              <a:t/>
            </a:r>
          </a:p>
          <a:p>
            <a:r>
              <a:rPr lang="en-US"/>
              <a:t>Integrar la medición de cobertura en el ciclo de desarrollo promueve la responsabilidad sobre el código, incentiva un mejor diseño de software (código más "testable") y actúa como una red de seguridad contra regresiones inesperadas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26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05207" y="682599"/>
            <a:ext cx="9404563" cy="94045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73139" y="1450531"/>
            <a:ext cx="7868699" cy="786869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85050" y="1185951"/>
            <a:ext cx="5644877" cy="7564324"/>
          </a:xfrm>
          <a:custGeom>
            <a:avLst/>
            <a:gdLst/>
            <a:ahLst/>
            <a:cxnLst/>
            <a:rect r="r" b="b" t="t" l="l"/>
            <a:pathLst>
              <a:path h="7564324" w="5644877">
                <a:moveTo>
                  <a:pt x="0" y="0"/>
                </a:moveTo>
                <a:lnTo>
                  <a:pt x="5644877" y="0"/>
                </a:lnTo>
                <a:lnTo>
                  <a:pt x="5644877" y="7564324"/>
                </a:lnTo>
                <a:lnTo>
                  <a:pt x="0" y="756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242509" y="3503495"/>
            <a:ext cx="1030630" cy="103063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4483810" y="4804827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50958" y="6480769"/>
            <a:ext cx="478436" cy="837524"/>
          </a:xfrm>
          <a:custGeom>
            <a:avLst/>
            <a:gdLst/>
            <a:ahLst/>
            <a:cxnLst/>
            <a:rect r="r" b="b" t="t" l="l"/>
            <a:pathLst>
              <a:path h="837524" w="478436">
                <a:moveTo>
                  <a:pt x="0" y="0"/>
                </a:moveTo>
                <a:lnTo>
                  <a:pt x="478436" y="0"/>
                </a:lnTo>
                <a:lnTo>
                  <a:pt x="478436" y="837525"/>
                </a:lnTo>
                <a:lnTo>
                  <a:pt x="0" y="837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832533"/>
            <a:ext cx="6968511" cy="167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4"/>
              </a:lnSpc>
            </a:pPr>
            <a:r>
              <a:rPr lang="en-US" sz="12147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TEMA 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3599174"/>
            <a:ext cx="8414756" cy="330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59"/>
              </a:lnSpc>
            </a:pPr>
            <a:r>
              <a:rPr lang="en-US" sz="12247">
                <a:solidFill>
                  <a:srgbClr val="C4459F"/>
                </a:solidFill>
                <a:latin typeface="Anton"/>
                <a:ea typeface="Anton"/>
                <a:cs typeface="Anton"/>
                <a:sym typeface="Anton"/>
              </a:rPr>
              <a:t>PRUEBAS DE COBERTURA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261144"/>
            <a:ext cx="7213809" cy="255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Integrantes 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Nicolas Donoso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Benjamín Cea</a:t>
            </a:r>
          </a:p>
          <a:p>
            <a:pPr algn="just" marL="626104" indent="-313052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Cristian Huenchullanca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7727" y="-1077507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65399" y="61722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89108" y="212384"/>
            <a:ext cx="9404563" cy="94045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57040" y="980316"/>
            <a:ext cx="7868699" cy="78686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26409" y="3033280"/>
            <a:ext cx="1030630" cy="103063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29807" y="1414026"/>
            <a:ext cx="7001279" cy="70012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666" r="0" b="-1666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727504"/>
            <a:ext cx="8115300" cy="188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2"/>
              </a:lnSpc>
            </a:pPr>
            <a:r>
              <a:rPr lang="en-US" sz="7040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¿QUÉ SON LAS PRUEBAS DE COBERTURA?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5516" y="4370181"/>
            <a:ext cx="9497709" cy="10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235" indent="-323618" lvl="1">
              <a:lnSpc>
                <a:spcPts val="41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Métrica que indica qué tan bien nuestras pruebas ejercitan el código.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5516" y="6115050"/>
            <a:ext cx="9497709" cy="10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235" indent="-323618" lvl="1">
              <a:lnSpc>
                <a:spcPts val="41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Identificar partes del código que no han sido ejercitadas, lo que podría ocultar errores.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5051" y="1164530"/>
            <a:ext cx="6700867" cy="7470139"/>
            <a:chOff x="0" y="0"/>
            <a:chExt cx="960026" cy="10702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026" cy="1070239"/>
            </a:xfrm>
            <a:custGeom>
              <a:avLst/>
              <a:gdLst/>
              <a:ahLst/>
              <a:cxnLst/>
              <a:rect r="r" b="b" t="t" l="l"/>
              <a:pathLst>
                <a:path h="1070239" w="960026">
                  <a:moveTo>
                    <a:pt x="480013" y="0"/>
                  </a:moveTo>
                  <a:cubicBezTo>
                    <a:pt x="214909" y="0"/>
                    <a:pt x="0" y="239581"/>
                    <a:pt x="0" y="535119"/>
                  </a:cubicBezTo>
                  <a:cubicBezTo>
                    <a:pt x="0" y="830658"/>
                    <a:pt x="214909" y="1070239"/>
                    <a:pt x="480013" y="1070239"/>
                  </a:cubicBezTo>
                  <a:cubicBezTo>
                    <a:pt x="745117" y="1070239"/>
                    <a:pt x="960026" y="830658"/>
                    <a:pt x="960026" y="535119"/>
                  </a:cubicBezTo>
                  <a:cubicBezTo>
                    <a:pt x="960026" y="239581"/>
                    <a:pt x="745117" y="0"/>
                    <a:pt x="4800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90002" y="62235"/>
              <a:ext cx="780021" cy="907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710360" y="-5074466"/>
            <a:ext cx="18778525" cy="9696548"/>
          </a:xfrm>
          <a:custGeom>
            <a:avLst/>
            <a:gdLst/>
            <a:ahLst/>
            <a:cxnLst/>
            <a:rect r="r" b="b" t="t" l="l"/>
            <a:pathLst>
              <a:path h="9696548" w="18778525">
                <a:moveTo>
                  <a:pt x="0" y="0"/>
                </a:moveTo>
                <a:lnTo>
                  <a:pt x="18778525" y="0"/>
                </a:lnTo>
                <a:lnTo>
                  <a:pt x="18778525" y="9696548"/>
                </a:lnTo>
                <a:lnTo>
                  <a:pt x="0" y="9696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66985" y="7261682"/>
            <a:ext cx="5814884" cy="4964457"/>
          </a:xfrm>
          <a:custGeom>
            <a:avLst/>
            <a:gdLst/>
            <a:ahLst/>
            <a:cxnLst/>
            <a:rect r="r" b="b" t="t" l="l"/>
            <a:pathLst>
              <a:path h="4964457" w="5814884">
                <a:moveTo>
                  <a:pt x="0" y="0"/>
                </a:moveTo>
                <a:lnTo>
                  <a:pt x="5814883" y="0"/>
                </a:lnTo>
                <a:lnTo>
                  <a:pt x="5814883" y="4964457"/>
                </a:lnTo>
                <a:lnTo>
                  <a:pt x="0" y="4964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58329" y="6521255"/>
            <a:ext cx="957589" cy="9575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190" y="2514937"/>
            <a:ext cx="4746745" cy="47467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981267"/>
            <a:ext cx="621722" cy="62172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43147" y="2719894"/>
            <a:ext cx="4336832" cy="43368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6666" t="0" r="-1666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092676" y="6655602"/>
            <a:ext cx="688895" cy="68889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67693" y="8634669"/>
            <a:ext cx="243870" cy="2438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332237" y="3822922"/>
            <a:ext cx="5614969" cy="1013643"/>
          </a:xfrm>
          <a:custGeom>
            <a:avLst/>
            <a:gdLst/>
            <a:ahLst/>
            <a:cxnLst/>
            <a:rect r="r" b="b" t="t" l="l"/>
            <a:pathLst>
              <a:path h="1013643" w="5614969">
                <a:moveTo>
                  <a:pt x="0" y="0"/>
                </a:moveTo>
                <a:lnTo>
                  <a:pt x="5614969" y="0"/>
                </a:lnTo>
                <a:lnTo>
                  <a:pt x="5614969" y="1013644"/>
                </a:lnTo>
                <a:lnTo>
                  <a:pt x="0" y="10136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55116" y="5507611"/>
            <a:ext cx="5614969" cy="1013643"/>
          </a:xfrm>
          <a:custGeom>
            <a:avLst/>
            <a:gdLst/>
            <a:ahLst/>
            <a:cxnLst/>
            <a:rect r="r" b="b" t="t" l="l"/>
            <a:pathLst>
              <a:path h="1013643" w="5614969">
                <a:moveTo>
                  <a:pt x="0" y="0"/>
                </a:moveTo>
                <a:lnTo>
                  <a:pt x="5614969" y="0"/>
                </a:lnTo>
                <a:lnTo>
                  <a:pt x="5614969" y="1013644"/>
                </a:lnTo>
                <a:lnTo>
                  <a:pt x="0" y="1013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876771" y="7188005"/>
            <a:ext cx="5614969" cy="1013643"/>
          </a:xfrm>
          <a:custGeom>
            <a:avLst/>
            <a:gdLst/>
            <a:ahLst/>
            <a:cxnLst/>
            <a:rect r="r" b="b" t="t" l="l"/>
            <a:pathLst>
              <a:path h="1013643" w="5614969">
                <a:moveTo>
                  <a:pt x="0" y="0"/>
                </a:moveTo>
                <a:lnTo>
                  <a:pt x="5614969" y="0"/>
                </a:lnTo>
                <a:lnTo>
                  <a:pt x="5614969" y="1013643"/>
                </a:lnTo>
                <a:lnTo>
                  <a:pt x="0" y="10136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801845" y="400104"/>
            <a:ext cx="10805496" cy="275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6"/>
              </a:lnSpc>
            </a:pPr>
            <a:r>
              <a:rPr lang="en-US" sz="10196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¿POR QUÉ ES IMPORTANTE?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32237" y="4084236"/>
            <a:ext cx="5614969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entificar Gaps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32387" y="5716935"/>
            <a:ext cx="5614969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ejorar Calidad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76771" y="7421694"/>
            <a:ext cx="5614969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199">
                <a:solidFill>
                  <a:srgbClr val="F0F7FE"/>
                </a:solidFill>
                <a:latin typeface="Montserrat"/>
                <a:ea typeface="Montserrat"/>
                <a:cs typeface="Montserrat"/>
                <a:sym typeface="Montserrat"/>
              </a:rPr>
              <a:t>eedback Rápido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090309" y="7478844"/>
            <a:ext cx="957589" cy="95758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90309" y="1557347"/>
            <a:ext cx="957589" cy="95758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59003" y="7694826"/>
            <a:ext cx="688895" cy="68889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59003" y="1557347"/>
            <a:ext cx="688895" cy="68889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60DC">
                    <a:alpha val="100000"/>
                  </a:srgbClr>
                </a:gs>
                <a:gs pos="100000">
                  <a:srgbClr val="FF9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09" r="0" b="-341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4221" y="-446483"/>
            <a:ext cx="9993248" cy="8531735"/>
          </a:xfrm>
          <a:custGeom>
            <a:avLst/>
            <a:gdLst/>
            <a:ahLst/>
            <a:cxnLst/>
            <a:rect r="r" b="b" t="t" l="l"/>
            <a:pathLst>
              <a:path h="8531735" w="9993248">
                <a:moveTo>
                  <a:pt x="0" y="0"/>
                </a:moveTo>
                <a:lnTo>
                  <a:pt x="9993248" y="0"/>
                </a:lnTo>
                <a:lnTo>
                  <a:pt x="9993248" y="8531735"/>
                </a:lnTo>
                <a:lnTo>
                  <a:pt x="0" y="8531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831167"/>
            <a:ext cx="4219014" cy="3369937"/>
          </a:xfrm>
          <a:custGeom>
            <a:avLst/>
            <a:gdLst/>
            <a:ahLst/>
            <a:cxnLst/>
            <a:rect r="r" b="b" t="t" l="l"/>
            <a:pathLst>
              <a:path h="3369937" w="4219014">
                <a:moveTo>
                  <a:pt x="0" y="0"/>
                </a:moveTo>
                <a:lnTo>
                  <a:pt x="4219014" y="0"/>
                </a:lnTo>
                <a:lnTo>
                  <a:pt x="4219014" y="3369937"/>
                </a:lnTo>
                <a:lnTo>
                  <a:pt x="0" y="336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7914" y="0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542070"/>
            <a:ext cx="7430558" cy="3654308"/>
          </a:xfrm>
          <a:custGeom>
            <a:avLst/>
            <a:gdLst/>
            <a:ahLst/>
            <a:cxnLst/>
            <a:rect r="r" b="b" t="t" l="l"/>
            <a:pathLst>
              <a:path h="3654308" w="7430558">
                <a:moveTo>
                  <a:pt x="0" y="0"/>
                </a:moveTo>
                <a:lnTo>
                  <a:pt x="7430558" y="0"/>
                </a:lnTo>
                <a:lnTo>
                  <a:pt x="7430558" y="3654308"/>
                </a:lnTo>
                <a:lnTo>
                  <a:pt x="0" y="3654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1329" b="-238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89733" y="4826164"/>
            <a:ext cx="4429208" cy="4746246"/>
          </a:xfrm>
          <a:custGeom>
            <a:avLst/>
            <a:gdLst/>
            <a:ahLst/>
            <a:cxnLst/>
            <a:rect r="r" b="b" t="t" l="l"/>
            <a:pathLst>
              <a:path h="4746246" w="4429208">
                <a:moveTo>
                  <a:pt x="0" y="0"/>
                </a:moveTo>
                <a:lnTo>
                  <a:pt x="4429208" y="0"/>
                </a:lnTo>
                <a:lnTo>
                  <a:pt x="4429208" y="4746247"/>
                </a:lnTo>
                <a:lnTo>
                  <a:pt x="0" y="47462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7877" y="1418636"/>
            <a:ext cx="6458703" cy="95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8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PYTEST Y SELENIUM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637" y="3077900"/>
            <a:ext cx="7920383" cy="39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Pytest :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Un framework de pruebas para Python que simplifica la escritura y ejecución de tests. Lo usamos para estructurar nuestros casos de prueba.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Selenium : </a:t>
            </a:r>
            <a:r>
              <a:rPr lang="en-US" sz="24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Permite simular la interacción de un usuario con una página web, como hacer clic en botones, llenar formularios y navegar entre páginas.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36543" y="9499276"/>
            <a:ext cx="663074" cy="379761"/>
          </a:xfrm>
          <a:custGeom>
            <a:avLst/>
            <a:gdLst/>
            <a:ahLst/>
            <a:cxnLst/>
            <a:rect r="r" b="b" t="t" l="l"/>
            <a:pathLst>
              <a:path h="379761" w="663074">
                <a:moveTo>
                  <a:pt x="0" y="0"/>
                </a:moveTo>
                <a:lnTo>
                  <a:pt x="663074" y="0"/>
                </a:lnTo>
                <a:lnTo>
                  <a:pt x="663074" y="379761"/>
                </a:lnTo>
                <a:lnTo>
                  <a:pt x="0" y="379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577542" y="7207928"/>
            <a:ext cx="3519591" cy="4095524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37327" t="0" r="-37327" b="0"/>
              </a:stretch>
            </a:blipFill>
            <a:ln w="38100" cap="sq">
              <a:gradFill>
                <a:gsLst>
                  <a:gs pos="0">
                    <a:srgbClr val="5960DC">
                      <a:alpha val="100000"/>
                    </a:srgbClr>
                  </a:gs>
                  <a:gs pos="100000">
                    <a:srgbClr val="FF99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849667" y="7674585"/>
            <a:ext cx="2588666" cy="2612415"/>
          </a:xfrm>
          <a:custGeom>
            <a:avLst/>
            <a:gdLst/>
            <a:ahLst/>
            <a:cxnLst/>
            <a:rect r="r" b="b" t="t" l="l"/>
            <a:pathLst>
              <a:path h="2612415" w="2588666">
                <a:moveTo>
                  <a:pt x="0" y="0"/>
                </a:moveTo>
                <a:lnTo>
                  <a:pt x="2588666" y="0"/>
                </a:lnTo>
                <a:lnTo>
                  <a:pt x="2588666" y="2612415"/>
                </a:lnTo>
                <a:lnTo>
                  <a:pt x="0" y="26124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476850">
            <a:off x="12923462" y="-58166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42747" y="7207928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592" y="2878771"/>
            <a:ext cx="4795814" cy="4795814"/>
          </a:xfrm>
          <a:custGeom>
            <a:avLst/>
            <a:gdLst/>
            <a:ahLst/>
            <a:cxnLst/>
            <a:rect r="r" b="b" t="t" l="l"/>
            <a:pathLst>
              <a:path h="4795814" w="4795814">
                <a:moveTo>
                  <a:pt x="0" y="0"/>
                </a:moveTo>
                <a:lnTo>
                  <a:pt x="4795814" y="0"/>
                </a:lnTo>
                <a:lnTo>
                  <a:pt x="4795814" y="4795814"/>
                </a:lnTo>
                <a:lnTo>
                  <a:pt x="0" y="47958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9867" y="884596"/>
            <a:ext cx="4949264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COVERAGE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8203" y="1380076"/>
            <a:ext cx="9241658" cy="629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4"/>
              </a:lnSpc>
            </a:pPr>
            <a:r>
              <a:rPr lang="en-US" sz="5017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¿Por qué usarla? </a:t>
            </a:r>
          </a:p>
          <a:p>
            <a:pPr algn="l">
              <a:lnSpc>
                <a:spcPts val="4083"/>
              </a:lnSpc>
            </a:pPr>
            <a:r>
              <a:rPr lang="en-US" sz="291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Ayuda a identificar qué partes del código no están siendo probadas, lo que reduce el riesgo de errores no detectados.</a:t>
            </a:r>
          </a:p>
          <a:p>
            <a:pPr algn="l">
              <a:lnSpc>
                <a:spcPts val="6370"/>
              </a:lnSpc>
            </a:pPr>
            <a:r>
              <a:rPr lang="en-US" sz="45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Ventajas:</a:t>
            </a:r>
          </a:p>
          <a:p>
            <a:pPr algn="l" marL="629786" indent="-314893" lvl="1">
              <a:lnSpc>
                <a:spcPts val="4083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Genera informes detallados en HTML.</a:t>
            </a:r>
          </a:p>
          <a:p>
            <a:pPr algn="l" marL="629786" indent="-314893" lvl="1">
              <a:lnSpc>
                <a:spcPts val="4083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Fácil integración con frameworks de pruebas como Pytest o Unittest.</a:t>
            </a:r>
          </a:p>
          <a:p>
            <a:pPr algn="l" marL="629786" indent="-314893" lvl="1">
              <a:lnSpc>
                <a:spcPts val="4083"/>
              </a:lnSpc>
              <a:buFont typeface="Arial"/>
              <a:buChar char="•"/>
            </a:pPr>
            <a:r>
              <a:rPr lang="en-US" sz="291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Permite mejorar la calidad del software al asegurar una cobertura más completa.</a:t>
            </a:r>
          </a:p>
          <a:p>
            <a:pPr algn="l">
              <a:lnSpc>
                <a:spcPts val="40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76850">
            <a:off x="12923462" y="-58166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42747" y="7207928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7112" y="4114800"/>
            <a:ext cx="17233776" cy="5040879"/>
          </a:xfrm>
          <a:custGeom>
            <a:avLst/>
            <a:gdLst/>
            <a:ahLst/>
            <a:cxnLst/>
            <a:rect r="r" b="b" t="t" l="l"/>
            <a:pathLst>
              <a:path h="5040879" w="17233776">
                <a:moveTo>
                  <a:pt x="0" y="0"/>
                </a:moveTo>
                <a:lnTo>
                  <a:pt x="17233776" y="0"/>
                </a:lnTo>
                <a:lnTo>
                  <a:pt x="17233776" y="5040879"/>
                </a:lnTo>
                <a:lnTo>
                  <a:pt x="0" y="5040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9867" y="884596"/>
            <a:ext cx="8342169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RESPUESTAS SIN COVERAGE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76850">
            <a:off x="12923462" y="-58166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42747" y="7207928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82241" y="2590689"/>
            <a:ext cx="7877059" cy="7276433"/>
          </a:xfrm>
          <a:custGeom>
            <a:avLst/>
            <a:gdLst/>
            <a:ahLst/>
            <a:cxnLst/>
            <a:rect r="r" b="b" t="t" l="l"/>
            <a:pathLst>
              <a:path h="7276433" w="7877059">
                <a:moveTo>
                  <a:pt x="0" y="0"/>
                </a:moveTo>
                <a:lnTo>
                  <a:pt x="7877059" y="0"/>
                </a:lnTo>
                <a:lnTo>
                  <a:pt x="7877059" y="7276433"/>
                </a:lnTo>
                <a:lnTo>
                  <a:pt x="0" y="7276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9867" y="884596"/>
            <a:ext cx="8342169" cy="26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DEMOSTRACIÓN Y ANALISIS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90978" y="-4114800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76850">
            <a:off x="12923462" y="-581665"/>
            <a:ext cx="7315200" cy="2646772"/>
          </a:xfrm>
          <a:custGeom>
            <a:avLst/>
            <a:gdLst/>
            <a:ahLst/>
            <a:cxnLst/>
            <a:rect r="r" b="b" t="t" l="l"/>
            <a:pathLst>
              <a:path h="2646772" w="7315200">
                <a:moveTo>
                  <a:pt x="0" y="0"/>
                </a:moveTo>
                <a:lnTo>
                  <a:pt x="7315200" y="0"/>
                </a:lnTo>
                <a:lnTo>
                  <a:pt x="7315200" y="2646772"/>
                </a:lnTo>
                <a:lnTo>
                  <a:pt x="0" y="2646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42747" y="7207928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5" y="0"/>
                </a:lnTo>
                <a:lnTo>
                  <a:pt x="96393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3745" y="3151973"/>
            <a:ext cx="4614712" cy="461471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762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19867" y="884596"/>
            <a:ext cx="11384752" cy="13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799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CONCLUSIONES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2243" y="3453331"/>
            <a:ext cx="10509390" cy="431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309" indent="-263155" lvl="1">
              <a:lnSpc>
                <a:spcPts val="3412"/>
              </a:lnSpc>
              <a:buFont typeface="Arial"/>
              <a:buChar char="•"/>
            </a:pPr>
            <a:r>
              <a:rPr lang="en-US" b="true" sz="243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 un Detector de Puntos Ciegos: Su principal valor es mostrar qué partes del código no se están probando, ayudando a identificar riesgos ocultos.</a:t>
            </a:r>
          </a:p>
          <a:p>
            <a:pPr algn="l" marL="526309" indent="-263155" lvl="1">
              <a:lnSpc>
                <a:spcPts val="3412"/>
              </a:lnSpc>
              <a:buFont typeface="Arial"/>
              <a:buChar char="•"/>
            </a:pPr>
            <a:r>
              <a:rPr lang="en-US" b="true" sz="243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Guía la Mejora, No Garantiza Calidad: Una buena cobertura no asegura que las pruebas sean correctas, pero una baja cobertura sí garantiza que hay zonas de riesgo. Nos dice dónde enfocar nuestros esfuerzos.</a:t>
            </a:r>
          </a:p>
          <a:p>
            <a:pPr algn="l" marL="526309" indent="-263155" lvl="1">
              <a:lnSpc>
                <a:spcPts val="34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3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Fomenta la Calidad y Confianza: Integrar esta métrica en el desarrollo permite hacer cambios en el código con mayor seguridad y promueve la creación de software más robusto y fiable.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89595" y="2595707"/>
            <a:ext cx="10509390" cy="489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2"/>
              </a:lnSpc>
              <a:spcBef>
                <a:spcPct val="0"/>
              </a:spcBef>
            </a:pPr>
            <a:r>
              <a:rPr lang="en-US" b="true" sz="283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Tenemos que las pruebas de cobertura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21294" y="527163"/>
            <a:ext cx="9404563" cy="940456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960D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41169" y="0"/>
            <a:ext cx="9450794" cy="11449207"/>
            <a:chOff x="0" y="0"/>
            <a:chExt cx="2489098" cy="3015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9098" cy="3015429"/>
            </a:xfrm>
            <a:custGeom>
              <a:avLst/>
              <a:gdLst/>
              <a:ahLst/>
              <a:cxnLst/>
              <a:rect r="r" b="b" t="t" l="l"/>
              <a:pathLst>
                <a:path h="3015429" w="2489098">
                  <a:moveTo>
                    <a:pt x="0" y="0"/>
                  </a:moveTo>
                  <a:lnTo>
                    <a:pt x="2489098" y="0"/>
                  </a:lnTo>
                  <a:lnTo>
                    <a:pt x="2489098" y="3015429"/>
                  </a:lnTo>
                  <a:lnTo>
                    <a:pt x="0" y="3015429"/>
                  </a:lnTo>
                  <a:close/>
                </a:path>
              </a:pathLst>
            </a:custGeom>
            <a:solidFill>
              <a:srgbClr val="C4459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89098" cy="3053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0258" y="3501333"/>
            <a:ext cx="696851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>
                <a:solidFill>
                  <a:srgbClr val="1F2374"/>
                </a:solidFill>
                <a:latin typeface="Anton"/>
                <a:ea typeface="Anton"/>
                <a:cs typeface="Anton"/>
                <a:sym typeface="Anton"/>
              </a:rPr>
              <a:t>GRACIAS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81248" y="3501333"/>
            <a:ext cx="696851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>
                <a:solidFill>
                  <a:srgbClr val="C4459F"/>
                </a:solidFill>
                <a:latin typeface="Anton"/>
                <a:ea typeface="Anton"/>
                <a:cs typeface="Anton"/>
                <a:sym typeface="Anton"/>
              </a:rPr>
              <a:t>POR SU ATENCION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75352" y="5633183"/>
            <a:ext cx="6968511" cy="16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59"/>
              </a:lnSpc>
            </a:pPr>
            <a:r>
              <a:rPr lang="en-US" sz="12247">
                <a:solidFill>
                  <a:srgbClr val="C4459F"/>
                </a:solidFill>
                <a:latin typeface="Anton"/>
                <a:ea typeface="Anton"/>
                <a:cs typeface="Anton"/>
                <a:sym typeface="Anton"/>
              </a:rPr>
              <a:t>:D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DAGpaE1z-SM</dc:identifier>
  <dcterms:modified xsi:type="dcterms:W3CDTF">2011-08-01T06:04:30Z</dcterms:modified>
  <cp:revision>1</cp:revision>
  <dc:title>Tema 8 – Cobertura de pruebas Para comprender mejor cómo medir la cobertura de pruebas, el estudiante investigará una herramienta que permita ejecutar una suite de pruebas y calcular la cobertura. Aplicará una herramienta a un proyecto y preparará una</dc:title>
</cp:coreProperties>
</file>